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7"/>
    <p:sldId id="267" r:id="rId18"/>
    <p:sldId id="268" r:id="rId19"/>
    <p:sldId id="269" r:id="rId2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GITSCOUT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19672" y="548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  ·  April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863840" y="2377440"/>
            <a:ext cx="128016" cy="128016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02752" y="2377440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41664" y="2377440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80576" y="2377440"/>
            <a:ext cx="128016" cy="128016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19488" y="2377440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0" y="2377440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97312" y="2377440"/>
            <a:ext cx="128016" cy="128016"/>
          </a:xfrm>
          <a:prstGeom prst="ellipse">
            <a:avLst/>
          </a:prstGeom>
          <a:solidFill>
            <a:srgbClr val="2EA7A5"/>
          </a:solidFill>
          <a:ln w="12700">
            <a:solidFill>
              <a:srgbClr val="2EA7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36224" y="2377440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2816352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02752" y="2816352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41664" y="2816352"/>
            <a:ext cx="128016" cy="128016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80576" y="2816352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19488" y="2816352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0" y="2816352"/>
            <a:ext cx="128016" cy="128016"/>
          </a:xfrm>
          <a:prstGeom prst="ellipse">
            <a:avLst/>
          </a:prstGeom>
          <a:solidFill>
            <a:srgbClr val="2EA7A5"/>
          </a:solidFill>
          <a:ln w="12700">
            <a:solidFill>
              <a:srgbClr val="2EA7A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97312" y="2816352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36224" y="2816352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0" y="3255264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02752" y="3255264"/>
            <a:ext cx="128016" cy="128016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41664" y="3255264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0576" y="3255264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19488" y="3255264"/>
            <a:ext cx="128016" cy="128016"/>
          </a:xfrm>
          <a:prstGeom prst="ellipse">
            <a:avLst/>
          </a:prstGeom>
          <a:solidFill>
            <a:srgbClr val="2EA7A5"/>
          </a:solidFill>
          <a:ln w="12700">
            <a:solidFill>
              <a:srgbClr val="2EA7A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0" y="3255264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497312" y="3255264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36224" y="3255264"/>
            <a:ext cx="128016" cy="128016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63840" y="3694176"/>
            <a:ext cx="128016" cy="128016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02752" y="3694176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41664" y="3694176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80576" y="3694176"/>
            <a:ext cx="128016" cy="128016"/>
          </a:xfrm>
          <a:prstGeom prst="ellipse">
            <a:avLst/>
          </a:prstGeom>
          <a:solidFill>
            <a:srgbClr val="2EA7A5"/>
          </a:solidFill>
          <a:ln w="12700">
            <a:solidFill>
              <a:srgbClr val="2EA7A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19488" y="3694176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58400" y="3694176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497312" y="3694176"/>
            <a:ext cx="128016" cy="128016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936224" y="3694176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63840" y="4133088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02752" y="4133088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41664" y="4133088"/>
            <a:ext cx="128016" cy="128016"/>
          </a:xfrm>
          <a:prstGeom prst="ellipse">
            <a:avLst/>
          </a:prstGeom>
          <a:solidFill>
            <a:srgbClr val="2EA7A5"/>
          </a:solidFill>
          <a:ln w="12700">
            <a:solidFill>
              <a:srgbClr val="2EA7A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80576" y="4133088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19488" y="4133088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58400" y="4133088"/>
            <a:ext cx="128016" cy="128016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497312" y="4133088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936224" y="4133088"/>
            <a:ext cx="128016" cy="128016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8640" y="2697480"/>
            <a:ext cx="164592" cy="10058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8680" y="2331720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GitScout</a:t>
            </a:r>
            <a:endParaRPr lang="en-US" sz="9600" dirty="0"/>
          </a:p>
        </p:txBody>
      </p:sp>
      <p:sp>
        <p:nvSpPr>
          <p:cNvPr id="46" name="Text 44"/>
          <p:cNvSpPr/>
          <p:nvPr/>
        </p:nvSpPr>
        <p:spPr>
          <a:xfrm>
            <a:off x="868680" y="4114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Talent Intelligence Platform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868680" y="4709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A7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"verified developer signals"</a:t>
            </a:r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60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.score()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48640" y="5943600"/>
            <a:ext cx="1109167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6126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463040" y="6126480"/>
            <a:ext cx="10177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Xiangan He · Bowang Lang · Cong Chen · Khushi Sridhar · Joseph Ma · Haomiao Hu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228600" cy="73152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technical talent is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expensive, and opaque.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5669280" cy="3108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1089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14000" dirty="0"/>
          </a:p>
        </p:txBody>
      </p:sp>
      <p:sp>
        <p:nvSpPr>
          <p:cNvPr id="7" name="Text 5"/>
          <p:cNvSpPr/>
          <p:nvPr/>
        </p:nvSpPr>
        <p:spPr>
          <a:xfrm>
            <a:off x="731520" y="48463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companies face a tech talent shortage.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5394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Qubit Labs, 2024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0" y="3017520"/>
            <a:ext cx="5239512" cy="9326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3127248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mo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869680" y="32004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to hire a software engineer.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869680" y="36118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Foundation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0" y="4087368"/>
            <a:ext cx="5239512" cy="9326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4197096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A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$50K+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869680" y="427024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fully-loaded cost per developer hired.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869680" y="468172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Devskiller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0" y="5157216"/>
            <a:ext cx="5239512" cy="9326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5266944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$162B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869680" y="5340096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US revenue estimated lost to the talent gap.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69680" y="575157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Korn Ferry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GITSCOUT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2286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INSIGHT 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 the world's largest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developer signal.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0175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150M+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worldwide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0" y="30175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420M+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389120" y="3657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repositories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0" y="30175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046720" y="3657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managers trust GitHub over resumes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35204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4617720"/>
            <a:ext cx="457200" cy="457200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64515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signal impact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51663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with 10+ starred repos receive 4× more interview invites.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51960" y="4480560"/>
            <a:ext cx="35204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0" y="4617720"/>
            <a:ext cx="457200" cy="457200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74920" y="464515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signal staying power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80560" y="51663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contributors (3+ commits/week) show 68% higher retention.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955280" y="4480560"/>
            <a:ext cx="35204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4617720"/>
            <a:ext cx="457200" cy="457200"/>
          </a:xfrm>
          <a:prstGeom prst="ellipse">
            <a:avLst/>
          </a:prstGeom>
          <a:solidFill>
            <a:srgbClr val="2EA7A5"/>
          </a:solidFill>
          <a:ln w="12700">
            <a:solidFill>
              <a:srgbClr val="2EA7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388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778240" y="464515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signal quality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83880" y="51663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PRs in 3+ repos correlate with 40% better performance reviews.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GITSCOUT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INSIGHT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2286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GitScout does.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surfaces that turn GitHub activity into hiring decisions.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449824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514600"/>
            <a:ext cx="109728" cy="16002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51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Search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150M+ developers by language, location, followers, repo count. Results are re-ranked live by GitScout relevance score.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90488" y="2514600"/>
            <a:ext cx="5449824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0488" y="2514600"/>
            <a:ext cx="109728" cy="1600200"/>
          </a:xfrm>
          <a:prstGeom prst="rect">
            <a:avLst/>
          </a:prstGeom>
          <a:solidFill>
            <a:srgbClr val="2EA7A5"/>
          </a:solidFill>
          <a:ln w="12700">
            <a:solidFill>
              <a:srgbClr val="2EA7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4808" y="2651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A7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64808" y="2926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Analytics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64808" y="33832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view of repos, stars, languages, and 90-day activity — pulled from the GitHub REST API behind a 5-minute cache.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5449824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297680"/>
            <a:ext cx="109728" cy="1600200"/>
          </a:xfrm>
          <a:prstGeom prst="rect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34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7091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Scoring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2960" y="51663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0–100 score with four weighted components: popularity, activity, language breadth, and community reach.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90488" y="4297680"/>
            <a:ext cx="5449824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90488" y="4297680"/>
            <a:ext cx="109728" cy="160020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64808" y="4434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64808" y="47091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Shortlists &amp; Export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464808" y="51663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Save, organize, and compare candidates in persistent SQLite-backed lists. One-click CSV export for ATS handoff.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GITSCOUT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228600" cy="73152"/>
          </a:xfrm>
          <a:prstGeom prst="rect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 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GitScout Score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 weighted sum — no black box, no magic.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WEIGHT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9456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990088"/>
            <a:ext cx="612648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154680"/>
            <a:ext cx="109728" cy="457200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0632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600200" y="32461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3063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194560" y="33832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repository stars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612648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867912"/>
            <a:ext cx="109728" cy="457200"/>
          </a:xfrm>
          <a:prstGeom prst="rect">
            <a:avLst/>
          </a:prstGeom>
          <a:solidFill>
            <a:srgbClr val="2EA7A5"/>
          </a:solidFill>
          <a:ln w="12700">
            <a:solidFill>
              <a:srgbClr val="2EA7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776472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1600200" y="39593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37764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194560" y="409651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recent public events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416552"/>
            <a:ext cx="612648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581144"/>
            <a:ext cx="109728" cy="457200"/>
          </a:xfrm>
          <a:prstGeom prst="rect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489704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1600200" y="467258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94560" y="44897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2194560" y="480974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languages + repos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129784"/>
            <a:ext cx="612648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5294376"/>
            <a:ext cx="109728" cy="45720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202936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1600200" y="538581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194560" y="520293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2194560" y="552297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community followers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843016"/>
            <a:ext cx="6126480" cy="0"/>
          </a:xfrm>
          <a:prstGeom prst="line">
            <a:avLst/>
          </a:prstGeom>
          <a:noFill/>
          <a:ln w="25400">
            <a:solidFill>
              <a:srgbClr val="0D11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9893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1600200" y="614476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194560" y="60533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score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315200" y="2651760"/>
            <a:ext cx="432511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27889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example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589520" y="30632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@torvalds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589520" y="3611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popularity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686800" y="3685032"/>
            <a:ext cx="1828800" cy="164592"/>
          </a:xfrm>
          <a:prstGeom prst="rect">
            <a:avLst/>
          </a:prstGeom>
          <a:solidFill>
            <a:srgbClr val="E6EAEE"/>
          </a:solidFill>
          <a:ln w="12700">
            <a:solidFill>
              <a:srgbClr val="E6EA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86800" y="3685032"/>
            <a:ext cx="1828800" cy="164592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607040" y="3611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35/35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589520" y="3977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activity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686800" y="4050792"/>
            <a:ext cx="1828800" cy="164592"/>
          </a:xfrm>
          <a:prstGeom prst="rect">
            <a:avLst/>
          </a:prstGeom>
          <a:solidFill>
            <a:srgbClr val="E6EAEE"/>
          </a:solidFill>
          <a:ln w="12700">
            <a:solidFill>
              <a:srgbClr val="E6EA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686800" y="4050792"/>
            <a:ext cx="1828800" cy="164592"/>
          </a:xfrm>
          <a:prstGeom prst="rect">
            <a:avLst/>
          </a:prstGeom>
          <a:solidFill>
            <a:srgbClr val="2EA7A5"/>
          </a:solidFill>
          <a:ln w="12700">
            <a:solidFill>
              <a:srgbClr val="2EA7A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07040" y="3977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30/30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589520" y="4343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breadth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686800" y="4416552"/>
            <a:ext cx="1828800" cy="164592"/>
          </a:xfrm>
          <a:prstGeom prst="rect">
            <a:avLst/>
          </a:prstGeom>
          <a:solidFill>
            <a:srgbClr val="E6EAEE"/>
          </a:solidFill>
          <a:ln w="12700">
            <a:solidFill>
              <a:srgbClr val="E6EAE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686800" y="4416552"/>
            <a:ext cx="822960" cy="164592"/>
          </a:xfrm>
          <a:prstGeom prst="rect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607040" y="4343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9/20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58952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reach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686800" y="4782312"/>
            <a:ext cx="1828800" cy="164592"/>
          </a:xfrm>
          <a:prstGeom prst="rect">
            <a:avLst/>
          </a:prstGeom>
          <a:solidFill>
            <a:srgbClr val="E6EAEE"/>
          </a:solidFill>
          <a:ln w="12700">
            <a:solidFill>
              <a:srgbClr val="E6EAE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686800" y="4782312"/>
            <a:ext cx="1828800" cy="164592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60704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15/15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589520" y="5166360"/>
            <a:ext cx="37490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89520" y="5303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8961120" y="5257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/ 100</a:t>
            </a:r>
            <a:endParaRPr lang="en-US" sz="2800" dirty="0"/>
          </a:p>
        </p:txBody>
      </p:sp>
      <p:sp>
        <p:nvSpPr>
          <p:cNvPr id="58" name="Text 56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GITSCOUT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7548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228600" cy="73152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→ Profile → Shortlist → Export.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recruiter loop ships end-to-end.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2660904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651760"/>
            <a:ext cx="2660904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2918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7240" y="3886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a query with live language / location / follower filters.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5074920"/>
            <a:ext cx="2194560" cy="0"/>
          </a:xfrm>
          <a:prstGeom prst="line">
            <a:avLst/>
          </a:prstGeom>
          <a:noFill/>
          <a:ln w="12700">
            <a:solidFill>
              <a:srgbClr val="E6EA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212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/search/candidates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92424" y="2651760"/>
            <a:ext cx="2660904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92424" y="2651760"/>
            <a:ext cx="2660904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21024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21024" y="32918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621024" y="3886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 to repos, languages, activity, and the scored breakdown.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21024" y="5074920"/>
            <a:ext cx="2194560" cy="0"/>
          </a:xfrm>
          <a:prstGeom prst="line">
            <a:avLst/>
          </a:prstGeom>
          <a:noFill/>
          <a:ln w="12700">
            <a:solidFill>
              <a:srgbClr val="E6EA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21024" y="5212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/candidates/:username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36208" y="2651760"/>
            <a:ext cx="2660904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2651760"/>
            <a:ext cx="2660904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64808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64808" y="32918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464808" y="3886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candidate to a named list. Persisted in SQLite.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64808" y="5074920"/>
            <a:ext cx="2194560" cy="0"/>
          </a:xfrm>
          <a:prstGeom prst="line">
            <a:avLst/>
          </a:prstGeom>
          <a:noFill/>
          <a:ln w="12700">
            <a:solidFill>
              <a:srgbClr val="E6EA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64808" y="5212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/shortlists/:id/candidates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079992" y="2651760"/>
            <a:ext cx="2660904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79992" y="2651760"/>
            <a:ext cx="2660904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08592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308592" y="32918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308592" y="3886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 timestamped CSV for ATS handoff or review.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308592" y="5074920"/>
            <a:ext cx="2194560" cy="0"/>
          </a:xfrm>
          <a:prstGeom prst="line">
            <a:avLst/>
          </a:prstGeom>
          <a:noFill/>
          <a:ln w="12700">
            <a:solidFill>
              <a:srgbClr val="E6EA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08592" y="5212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rust-core-team-2026-04-24.csv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GITSCOUT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48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228600" cy="73152"/>
          </a:xfrm>
          <a:prstGeom prst="rect">
            <a:avLst/>
          </a:prstGeom>
          <a:solidFill>
            <a:srgbClr val="2EA7A5"/>
          </a:solidFill>
          <a:ln w="12700">
            <a:solidFill>
              <a:srgbClr val="2EA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 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stack. Typed all the way down.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03708" y="2743200"/>
            <a:ext cx="24688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3708" y="2743200"/>
            <a:ext cx="246888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6588" y="3017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86588" y="3520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16 · React Query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72588" y="3429000"/>
            <a:ext cx="502920" cy="0"/>
          </a:xfrm>
          <a:prstGeom prst="line">
            <a:avLst/>
          </a:prstGeom>
          <a:noFill/>
          <a:ln w="254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75508" y="2743200"/>
            <a:ext cx="24688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75508" y="2743200"/>
            <a:ext cx="2468880" cy="73152"/>
          </a:xfrm>
          <a:prstGeom prst="rect">
            <a:avLst/>
          </a:prstGeom>
          <a:solidFill>
            <a:srgbClr val="2EA7A5"/>
          </a:solidFill>
          <a:ln w="12700">
            <a:solidFill>
              <a:srgbClr val="2EA7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58388" y="3017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58388" y="3520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Elysia on Bun · Swagger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44388" y="3429000"/>
            <a:ext cx="502920" cy="0"/>
          </a:xfrm>
          <a:prstGeom prst="line">
            <a:avLst/>
          </a:prstGeom>
          <a:noFill/>
          <a:ln w="254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47308" y="2743200"/>
            <a:ext cx="24688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47308" y="2743200"/>
            <a:ext cx="2468880" cy="73152"/>
          </a:xfrm>
          <a:prstGeom prst="rect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0188" y="3017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30188" y="3520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 via Octokit + cache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816188" y="3429000"/>
            <a:ext cx="502920" cy="0"/>
          </a:xfrm>
          <a:prstGeom prst="line">
            <a:avLst/>
          </a:prstGeom>
          <a:noFill/>
          <a:ln w="254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19108" y="2743200"/>
            <a:ext cx="24688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19108" y="2743200"/>
            <a:ext cx="2468880" cy="73152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1988" y="3017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501988" y="3520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bun:sqlite · migrations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074920"/>
            <a:ext cx="694944" cy="36576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074920"/>
            <a:ext cx="694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426464" y="507492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26464" y="5074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072384" y="5074920"/>
            <a:ext cx="1024128" cy="36576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72384" y="5074920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Elysia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79392" y="5074920"/>
            <a:ext cx="1133856" cy="36576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79392" y="5074920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Octokit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596128" y="507492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96128" y="5074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bun:sqlite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242048" y="507492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42048" y="5074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Biome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5577840"/>
            <a:ext cx="1133856" cy="36576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5577840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865376" y="5577840"/>
            <a:ext cx="1572768" cy="36576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65376" y="557784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Query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21024" y="5577840"/>
            <a:ext cx="1243584" cy="36576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21024" y="5577840"/>
            <a:ext cx="1243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Tailwind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047488" y="5577840"/>
            <a:ext cx="1353312" cy="36576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47488" y="5577840"/>
            <a:ext cx="1353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shadcn/ui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83680" y="5577840"/>
            <a:ext cx="1024128" cy="36576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0" y="5577840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Vitest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790688" y="5577840"/>
            <a:ext cx="1133856" cy="36576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90688" y="5577840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Swagger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GITSCOUT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548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2286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 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 market, a sharper lens.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Juicebox raised $36M from Sequoia on this thesis. We differentiate on transparency and focus.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576072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6974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40280" y="26974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FUNDING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69080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5760720" cy="411480"/>
          </a:xfrm>
          <a:prstGeom prst="rect">
            <a:avLst/>
          </a:prstGeom>
          <a:solidFill>
            <a:srgbClr val="EAEEF2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0632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Juicebox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40280" y="3063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$36M Series 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69080" y="30632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multi-source search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57607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47472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Serra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40280" y="34747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YC-backed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69080" y="34747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outreach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5760720" cy="411480"/>
          </a:xfrm>
          <a:prstGeom prst="rect">
            <a:avLst/>
          </a:prstGeom>
          <a:solidFill>
            <a:srgbClr val="EAEEF2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88620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Git-Talents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40280" y="38862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69080" y="38862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extraction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297680"/>
            <a:ext cx="57607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2976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40280" y="42976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stage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69080" y="42976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Pay-per-search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66560" y="2697480"/>
            <a:ext cx="4873752" cy="338328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86600" y="2880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GitScout differs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086600" y="3456432"/>
            <a:ext cx="201168" cy="20116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383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86800" y="33832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is a weighted sum. Every input is visible in the UI.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086600" y="4078224"/>
            <a:ext cx="201168" cy="20116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06640" y="40050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686800" y="400507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small-to-mid teams, not enterprise bloat.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086600" y="4700016"/>
            <a:ext cx="201168" cy="20116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06640" y="462686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686800" y="4626864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open stack — Bun, Elysia, Next.js — no proprietary lock-in.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086600" y="5321808"/>
            <a:ext cx="201168" cy="20116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06640" y="524865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686800" y="524865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public signals. No PII exfiltration, no scraped emails.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GITSCOUT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548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228600" cy="73152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Shipped. Tested. Live.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pull requests merged. 12 server tests passing. End-to-end flow runs against the live GitHub API.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660904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8346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777240" y="38862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merged to main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92424" y="2743200"/>
            <a:ext cx="2660904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21024" y="28346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3621024" y="38862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server tests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36208" y="2743200"/>
            <a:ext cx="2660904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4808" y="28346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6464808" y="38862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components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79992" y="2743200"/>
            <a:ext cx="2660904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08592" y="28346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EA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9308592" y="38862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type-check clean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WORKS END-TO-END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120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51206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with language / location / follower filters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90488" y="5120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64808" y="51206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profiles with score breakdown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4498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544982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 CRUD with live add/remove via dropdown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90488" y="54498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64808" y="544982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 with proper escaping + timestamped filename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5779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57790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docs, health checks, rate-limit badge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90488" y="5779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64808" y="57790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Unauthenticated OR token-authenticated GitHub access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GITSCOUT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2286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 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MVP unlocks.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foundation to layer recruiter-facing intelligence on top.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1091672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81635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28529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outreach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285292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contribution-specific messages with 5× higher response rates.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11091672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45643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34930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Role-fit matching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34930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ranking against a job description, not a free-text query.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1091672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09651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413308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+ email enrichment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37760" y="413308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GitHub signal with adjacent professional context.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11091672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73659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80160" y="47731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analytics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37760" y="47731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shortlist funnel metrics, scoring drift, and reviewer agreement.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623560"/>
            <a:ext cx="1109167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8064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Thanks.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126480" y="5897880"/>
            <a:ext cx="5513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github.com/xors-software/git-scout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2286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 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→ Delivery.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functional requirement from the SRS ships in v1.0.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449824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514600"/>
            <a:ext cx="109728" cy="16002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51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 Keyword search. FR-2 Language, location, follower, and repo filters — all live against the GitHub REST API.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90488" y="2514600"/>
            <a:ext cx="5449824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0488" y="2514600"/>
            <a:ext cx="109728" cy="1600200"/>
          </a:xfrm>
          <a:prstGeom prst="rect">
            <a:avLst/>
          </a:prstGeom>
          <a:solidFill>
            <a:srgbClr val="2EA7A5"/>
          </a:solidFill>
          <a:ln w="12700">
            <a:solidFill>
              <a:srgbClr val="2EA7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4808" y="2651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A7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64808" y="2926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Analytics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64808" y="33832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FR-3 Aggregated repos, stars, and languages. FR-4 90-day activity signal. 5-minute in-process profile cache.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5449824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297680"/>
            <a:ext cx="109728" cy="1600200"/>
          </a:xfrm>
          <a:prstGeom prst="rect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34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7091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Scoring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2960" y="51663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FR-5 0–100 GitScout Score. FR-6 Breakdown by popularity, activity, breadth, and reach — every signal visible in the UI.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90488" y="4297680"/>
            <a:ext cx="5449824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90488" y="4297680"/>
            <a:ext cx="109728" cy="160020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64808" y="4434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64808" y="47091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Shortlists &amp; Export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464808" y="51663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FR-7 Named shortlists with CRUD and live add/remove. FR-8 Timestamped CSV export for ATS handoff.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GITSCOUT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228600" cy="73152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TIMELINE 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Build → Integrate → Harden.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weeks, six contributors, one tight scope.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2660904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651760"/>
            <a:ext cx="2660904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2918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Design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7240" y="3886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SRS, SPMP, SCM plan. UI mocks. Stack choice. Scoring weights agreed.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5074920"/>
            <a:ext cx="2194560" cy="0"/>
          </a:xfrm>
          <a:prstGeom prst="line">
            <a:avLst/>
          </a:prstGeom>
          <a:noFill/>
          <a:ln w="12700">
            <a:solidFill>
              <a:srgbClr val="E6EA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212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92424" y="2651760"/>
            <a:ext cx="2660904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92424" y="2651760"/>
            <a:ext cx="2660904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21024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21024" y="32918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Backend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621024" y="3886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Elysia app factory, SQLite migrations, Octokit + cache, scoring algorithm with tests.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21024" y="5074920"/>
            <a:ext cx="2194560" cy="0"/>
          </a:xfrm>
          <a:prstGeom prst="line">
            <a:avLst/>
          </a:prstGeom>
          <a:noFill/>
          <a:ln w="12700">
            <a:solidFill>
              <a:srgbClr val="E6EA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21024" y="5212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Weeks 2-3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36208" y="2651760"/>
            <a:ext cx="2660904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2651760"/>
            <a:ext cx="2660904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64808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64808" y="32918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464808" y="3886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pages, React Query hooks, shadcn/ui components. Live API integration.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64808" y="5074920"/>
            <a:ext cx="2194560" cy="0"/>
          </a:xfrm>
          <a:prstGeom prst="line">
            <a:avLst/>
          </a:prstGeom>
          <a:noFill/>
          <a:ln w="12700">
            <a:solidFill>
              <a:srgbClr val="E6EA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64808" y="5212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079992" y="2651760"/>
            <a:ext cx="2660904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79992" y="2651760"/>
            <a:ext cx="2660904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08592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308592" y="32918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&amp; Ship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308592" y="3886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tests, rate-limit badge, CSV export, error paths, Swagger polish.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308592" y="5074920"/>
            <a:ext cx="2194560" cy="0"/>
          </a:xfrm>
          <a:prstGeom prst="line">
            <a:avLst/>
          </a:prstGeom>
          <a:noFill/>
          <a:ln w="12700">
            <a:solidFill>
              <a:srgbClr val="E6EA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08592" y="5212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GITSCOUT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48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TIMELINE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2286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RETROSPECTIVE 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and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0175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 met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0" y="30175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389120" y="3657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tests passing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0" y="30175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046720" y="3657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blocker bugs at v1.0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35204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4617720"/>
            <a:ext cx="457200" cy="457200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64515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Went well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51663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shipped against live GitHub. Scope held tight. SRS coverage complete.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51960" y="4480560"/>
            <a:ext cx="35204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0" y="4617720"/>
            <a:ext cx="457200" cy="457200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74920" y="464515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improve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80560" y="51663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integration tests across the full flow. Clearer onboarding. Mobile polish.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955280" y="4480560"/>
            <a:ext cx="35204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4617720"/>
            <a:ext cx="457200" cy="457200"/>
          </a:xfrm>
          <a:prstGeom prst="ellipse">
            <a:avLst/>
          </a:prstGeom>
          <a:solidFill>
            <a:srgbClr val="2EA7A5"/>
          </a:solidFill>
          <a:ln w="12700">
            <a:solidFill>
              <a:srgbClr val="2EA7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388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778240" y="464515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risks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83880" y="51663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rate limits at scale. No pagination past first page. SQLite is single-node.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GITSCOUT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RETROSPECTIVE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2286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LESSONS 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we carry into v2 — process and technical.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1091672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81635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28529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beats complex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285292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trust a weighted sum they can see. A visible formula beat a black-box score, every time.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11091672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45643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34930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API first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34930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Nailing the API contract in week 2 let scoring and UI work lock-step without churn.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1091672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09651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413308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early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37760" y="413308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5-minute profile cache cut GitHub rate-limit errors to zero during demos.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11091672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73659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80160" y="47731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catch bugs tests miss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37760" y="47731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TypeScript caught more integration bugs than our unit tests did. Invest in types early.</a:t>
            </a:r>
            <a:endParaRPr lang="en-US" sz="1300" dirty="0"/>
          </a:p>
        </p:txBody>
      </p:sp>
      <p:sp>
        <p:nvSpPr>
          <p:cNvPr id="22" name="Footer Left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GITSCOUT</a:t>
            </a:r>
            <a:endParaRPr lang="en-US" sz="900" dirty="0"/>
          </a:p>
        </p:txBody>
      </p:sp>
      <p:sp>
        <p:nvSpPr>
          <p:cNvPr id="23" name="Footer Center"/>
          <p:cNvSpPr/>
          <p:nvPr/>
        </p:nvSpPr>
        <p:spPr>
          <a:xfrm>
            <a:off x="47548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LESSONS</a:t>
            </a:r>
            <a:endParaRPr lang="en-US" sz="900" dirty="0"/>
          </a:p>
        </p:txBody>
      </p:sp>
      <p:sp>
        <p:nvSpPr>
          <p:cNvPr id="24" name="Footer Right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GitScout</dc:title>
  <dc:subject>PptxGenJS Presentation</dc:subject>
  <dc:creator>GitScout Team</dc:creator>
  <cp:lastModifiedBy>GitScout Team</cp:lastModifiedBy>
  <cp:revision>1</cp:revision>
  <dcterms:created xsi:type="dcterms:W3CDTF">2026-04-24T01:14:50Z</dcterms:created>
  <dcterms:modified xsi:type="dcterms:W3CDTF">2026-04-24T01:14:50Z</dcterms:modified>
</cp:coreProperties>
</file>