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GITSCOUT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19672" y="548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  ·  April 2026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863840" y="2377440"/>
            <a:ext cx="128016" cy="12801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02752" y="2377440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41664" y="2377440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80576" y="2377440"/>
            <a:ext cx="128016" cy="128016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19488" y="2377440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0" y="2377440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97312" y="2377440"/>
            <a:ext cx="128016" cy="128016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36224" y="2377440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41664" y="2816352"/>
            <a:ext cx="128016" cy="128016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0576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19488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0" y="2816352"/>
            <a:ext cx="128016" cy="128016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97312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36224" y="2816352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3255264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02752" y="3255264"/>
            <a:ext cx="128016" cy="128016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41664" y="3255264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0576" y="3255264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19488" y="3255264"/>
            <a:ext cx="128016" cy="128016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0" y="3255264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97312" y="3255264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36224" y="3255264"/>
            <a:ext cx="128016" cy="128016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3694176"/>
            <a:ext cx="128016" cy="128016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02752" y="3694176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1664" y="3694176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80576" y="3694176"/>
            <a:ext cx="128016" cy="128016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19488" y="3694176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3694176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97312" y="3694176"/>
            <a:ext cx="128016" cy="128016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36224" y="3694176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63840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02752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41664" y="4133088"/>
            <a:ext cx="128016" cy="128016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80576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19488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58400" y="4133088"/>
            <a:ext cx="128016" cy="128016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97312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936224" y="4133088"/>
            <a:ext cx="128016" cy="128016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" y="2697480"/>
            <a:ext cx="164592" cy="1005840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GitScout</a:t>
            </a:r>
            <a:endParaRPr lang="en-US" sz="9600" dirty="0"/>
          </a:p>
        </p:txBody>
      </p:sp>
      <p:sp>
        <p:nvSpPr>
          <p:cNvPr id="46" name="Text 44"/>
          <p:cNvSpPr/>
          <p:nvPr/>
        </p:nvSpPr>
        <p:spPr>
          <a:xfrm>
            <a:off x="86868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Talent Intelligence Platform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86868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A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6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"verified developer signals"</a:t>
            </a:r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6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.score()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48640" y="5943600"/>
            <a:ext cx="11091672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6126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463040" y="6126480"/>
            <a:ext cx="101772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Xiangan He · Bowang Lang · Cong Chen · Khushi Sridhar · Joseph Ma · Haomiao Hu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technical talent is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expensive, and opaque.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5669280" cy="3108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108960"/>
            <a:ext cx="5486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4000" dirty="0"/>
          </a:p>
        </p:txBody>
      </p:sp>
      <p:sp>
        <p:nvSpPr>
          <p:cNvPr id="7" name="Text 5"/>
          <p:cNvSpPr/>
          <p:nvPr/>
        </p:nvSpPr>
        <p:spPr>
          <a:xfrm>
            <a:off x="731520" y="4846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companies face a tech talent shortage.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3949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Qubit Labs, 2024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3017520"/>
            <a:ext cx="5239512" cy="9326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312724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mo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869680" y="32004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hire a software engineer.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869680" y="36118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Linux Foundation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0" y="4087368"/>
            <a:ext cx="5239512" cy="9326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197096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A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$50K+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869680" y="4270248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fully-loaded cost per developer hired.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69680" y="468172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Devskiller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5157216"/>
            <a:ext cx="5239512" cy="9326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5266944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$162B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869680" y="5340096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 revenue estimated lost to the talent gap.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5751576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Korn Ferry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INSIGHT 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 the world's largest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developer signal.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0175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worldwide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30175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420M+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38912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repositories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0" y="30175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046720" y="36576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managers trust GitHub over resumes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64515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signal impact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5166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with 10+ starred repos receive 4× more interview invites.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51960" y="448056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80560" y="461772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74920" y="464515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signal staying power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5166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contributors (3+ commits/week) show 68% higher retention.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55280" y="4480560"/>
            <a:ext cx="35204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83880" y="4617720"/>
            <a:ext cx="457200" cy="457200"/>
          </a:xfrm>
          <a:prstGeom prst="ellipse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83880" y="4617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778240" y="464515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signal quality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83880" y="51663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PRs in 3+ repos correlate with 40% better performance reviews.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INSIGHT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GitScout does.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surfaces that turn GitHub activity into hiring decisions.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449824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109728" cy="1600200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51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Search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150M+ developers by language, location, followers, repo count. Results are re-ranked live by GitScout relevance score.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2514600"/>
            <a:ext cx="5449824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2514600"/>
            <a:ext cx="109728" cy="1600200"/>
          </a:xfrm>
          <a:prstGeom prst="rect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4808" y="2651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EA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64808" y="29260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Analytics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64808" y="33832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view of repos, stars, languages, and 90-day activity — pulled from the GitHub REST API behind a 5-minute cache.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5449824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97680"/>
            <a:ext cx="109728" cy="1600200"/>
          </a:xfrm>
          <a:prstGeom prst="rect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348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250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Scoring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2960" y="5166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0–100 score with four weighted components: popularity, activity, language breadth, and community reach.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4297680"/>
            <a:ext cx="5449824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297680"/>
            <a:ext cx="109728" cy="1600200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4808" y="44348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64808" y="47091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Shortlists &amp; Export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64808" y="5166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organize, and compare candidates in persistent SQLite-backed lists. One-click CSV export for ATS handoff.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 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GitScout Score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weighted sum — no black box, no magic.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WEIGHT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9456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6126480" cy="0"/>
          </a:xfrm>
          <a:prstGeom prst="line">
            <a:avLst/>
          </a:prstGeom>
          <a:noFill/>
          <a:ln w="1270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154680"/>
            <a:ext cx="109728" cy="45720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06324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600200" y="3246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194560" y="33832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repository stars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6126480" cy="0"/>
          </a:xfrm>
          <a:prstGeom prst="line">
            <a:avLst/>
          </a:prstGeom>
          <a:noFill/>
          <a:ln w="1270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867912"/>
            <a:ext cx="109728" cy="457200"/>
          </a:xfrm>
          <a:prstGeom prst="rect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76472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395935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3776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194560" y="409651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recent public events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416552"/>
            <a:ext cx="6126480" cy="0"/>
          </a:xfrm>
          <a:prstGeom prst="line">
            <a:avLst/>
          </a:prstGeom>
          <a:noFill/>
          <a:ln w="1270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581144"/>
            <a:ext cx="109728" cy="457200"/>
          </a:xfrm>
          <a:prstGeom prst="rect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4897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1600200" y="467258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194560" y="448970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194560" y="480974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languages + repos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129784"/>
            <a:ext cx="6126480" cy="0"/>
          </a:xfrm>
          <a:prstGeom prst="line">
            <a:avLst/>
          </a:prstGeom>
          <a:noFill/>
          <a:ln w="1270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294376"/>
            <a:ext cx="109728" cy="457200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202936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1600200" y="5385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52029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2194560" y="55229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community followers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843016"/>
            <a:ext cx="6126480" cy="0"/>
          </a:xfrm>
          <a:prstGeom prst="line">
            <a:avLst/>
          </a:prstGeom>
          <a:noFill/>
          <a:ln w="25400">
            <a:solidFill>
              <a:srgbClr val="0D111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98932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1600200" y="6144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194560" y="60533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score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315200" y="2651760"/>
            <a:ext cx="4325112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2788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example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30632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@torvalds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589520" y="3611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popularity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86800" y="3685032"/>
            <a:ext cx="1828800" cy="164592"/>
          </a:xfrm>
          <a:prstGeom prst="rect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686800" y="3685032"/>
            <a:ext cx="1828800" cy="164592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07040" y="3611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35/35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589520" y="39776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activity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686800" y="4050792"/>
            <a:ext cx="1828800" cy="164592"/>
          </a:xfrm>
          <a:prstGeom prst="rect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86800" y="4050792"/>
            <a:ext cx="1828800" cy="164592"/>
          </a:xfrm>
          <a:prstGeom prst="rect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607040" y="3977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30/30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589520" y="43434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breadth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686800" y="4416552"/>
            <a:ext cx="1828800" cy="164592"/>
          </a:xfrm>
          <a:prstGeom prst="rect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86800" y="4416552"/>
            <a:ext cx="822960" cy="164592"/>
          </a:xfrm>
          <a:prstGeom prst="rect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4343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9/20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589520" y="4709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686800" y="4782312"/>
            <a:ext cx="1828800" cy="164592"/>
          </a:xfrm>
          <a:prstGeom prst="rect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686800" y="4782312"/>
            <a:ext cx="1828800" cy="16459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0" y="4709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15/15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589520" y="5166360"/>
            <a:ext cx="3749040" cy="0"/>
          </a:xfrm>
          <a:prstGeom prst="line">
            <a:avLst/>
          </a:prstGeom>
          <a:noFill/>
          <a:ln w="12700">
            <a:solidFill>
              <a:srgbClr val="D0D7D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9520" y="53035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8961120" y="5257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/ 100</a:t>
            </a:r>
            <a:endParaRPr lang="en-US" sz="2800" dirty="0"/>
          </a:p>
        </p:txBody>
      </p:sp>
      <p:sp>
        <p:nvSpPr>
          <p:cNvPr id="58" name="Text 56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→ Profile → Shortlist → Export.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recruiter loop ships end-to-end.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66090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2660904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 query with live language / location / follower filters.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5074920"/>
            <a:ext cx="2194560" cy="0"/>
          </a:xfrm>
          <a:prstGeom prst="line">
            <a:avLst/>
          </a:prstGeom>
          <a:noFill/>
          <a:ln w="12700">
            <a:solidFill>
              <a:srgbClr val="E6EA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212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/search/candidates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92424" y="2651760"/>
            <a:ext cx="266090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92424" y="2651760"/>
            <a:ext cx="2660904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1024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21024" y="3291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621024" y="3886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 to repos, languages, activity, and the scored breakdown.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5074920"/>
            <a:ext cx="2194560" cy="0"/>
          </a:xfrm>
          <a:prstGeom prst="line">
            <a:avLst/>
          </a:prstGeom>
          <a:noFill/>
          <a:ln w="12700">
            <a:solidFill>
              <a:srgbClr val="E6EA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5212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/candidates/:username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2651760"/>
            <a:ext cx="266090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36208" y="2651760"/>
            <a:ext cx="2660904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4808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64808" y="3291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64808" y="3886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candidate to a named list. Persisted in SQLite.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64808" y="5074920"/>
            <a:ext cx="2194560" cy="0"/>
          </a:xfrm>
          <a:prstGeom prst="line">
            <a:avLst/>
          </a:prstGeom>
          <a:noFill/>
          <a:ln w="12700">
            <a:solidFill>
              <a:srgbClr val="E6EA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5212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/shortlists/:id/candidates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079992" y="2651760"/>
            <a:ext cx="266090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9992" y="2651760"/>
            <a:ext cx="2660904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08592" y="2880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918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308592" y="3886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 timestamped CSV for ATS handoff or review.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08592" y="5074920"/>
            <a:ext cx="2194560" cy="0"/>
          </a:xfrm>
          <a:prstGeom prst="line">
            <a:avLst/>
          </a:prstGeom>
          <a:noFill/>
          <a:ln w="12700">
            <a:solidFill>
              <a:srgbClr val="E6EA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08592" y="5212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rust-core-team-2026-04-24.csv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stack. Typed all the way down.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03708" y="2743200"/>
            <a:ext cx="246888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3708" y="2743200"/>
            <a:ext cx="2468880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6588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86588" y="3520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· React Query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72588" y="3429000"/>
            <a:ext cx="502920" cy="0"/>
          </a:xfrm>
          <a:prstGeom prst="line">
            <a:avLst/>
          </a:prstGeom>
          <a:noFill/>
          <a:ln w="254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5508" y="2743200"/>
            <a:ext cx="246888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5508" y="2743200"/>
            <a:ext cx="2468880" cy="73152"/>
          </a:xfrm>
          <a:prstGeom prst="rect">
            <a:avLst/>
          </a:prstGeom>
          <a:solidFill>
            <a:srgbClr val="2EA7A5"/>
          </a:solidFill>
          <a:ln w="12700">
            <a:solidFill>
              <a:srgbClr val="2EA7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8388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58388" y="3520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Elysia on Bun · Swagger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44388" y="3429000"/>
            <a:ext cx="502920" cy="0"/>
          </a:xfrm>
          <a:prstGeom prst="line">
            <a:avLst/>
          </a:prstGeom>
          <a:noFill/>
          <a:ln w="2540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47308" y="2743200"/>
            <a:ext cx="246888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7308" y="2743200"/>
            <a:ext cx="2468880" cy="73152"/>
          </a:xfrm>
          <a:prstGeom prst="rect">
            <a:avLst/>
          </a:prstGeom>
          <a:solidFill>
            <a:srgbClr val="8250DF"/>
          </a:solidFill>
          <a:ln w="12700">
            <a:solidFill>
              <a:srgbClr val="8250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0188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0188" y="3520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via Octokit + cache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16188" y="3429000"/>
            <a:ext cx="502920" cy="0"/>
          </a:xfrm>
          <a:prstGeom prst="line">
            <a:avLst/>
          </a:prstGeom>
          <a:noFill/>
          <a:ln w="254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19108" y="2743200"/>
            <a:ext cx="246888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19108" y="2743200"/>
            <a:ext cx="2468880" cy="7315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1988" y="30175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501988" y="3520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bun:sqlite · migrations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694944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074920"/>
            <a:ext cx="6949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426464" y="50749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26464" y="50749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072384" y="507492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72384" y="5074920"/>
            <a:ext cx="10241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Elysia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79392" y="507492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5074920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Octokit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96128" y="50749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50749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bun:sqlite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242048" y="50749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42048" y="50749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Biome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57784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5577840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65376" y="5577840"/>
            <a:ext cx="1572768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65376" y="5577840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Query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21024" y="5577840"/>
            <a:ext cx="1243584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21024" y="5577840"/>
            <a:ext cx="1243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47488" y="5577840"/>
            <a:ext cx="1353312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47488" y="5577840"/>
            <a:ext cx="1353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shadcn/ui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583680" y="557784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0" y="5577840"/>
            <a:ext cx="10241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790688" y="557784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90688" y="5577840"/>
            <a:ext cx="1133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Swagger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 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market, a sharper lens.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Juicebox raised $36M from Sequoia on this thesis. We differentiate on transparency and focus.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5760720" cy="36576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69748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26974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760720" cy="411480"/>
          </a:xfrm>
          <a:prstGeom prst="rect">
            <a:avLst/>
          </a:prstGeom>
          <a:solidFill>
            <a:srgbClr val="EAEEF2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06324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Juicebox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30632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$36M Series 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9080" y="3063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multi-source search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7472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47472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YC-backed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9080" y="347472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outreach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5760720" cy="411480"/>
          </a:xfrm>
          <a:prstGeom prst="rect">
            <a:avLst/>
          </a:prstGeom>
          <a:solidFill>
            <a:srgbClr val="EAEEF2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88620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Git-Talents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40280" y="38862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9080" y="38862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extraction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5760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297680"/>
            <a:ext cx="1417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40280" y="42976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69080" y="429768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Pay-per-search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2697480"/>
            <a:ext cx="4873752" cy="338328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880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GitScout differs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086600" y="3456432"/>
            <a:ext cx="201168" cy="20116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3383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86800" y="33832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is a weighted sum. Every input is visible in the UI.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86600" y="4078224"/>
            <a:ext cx="201168" cy="20116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40050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686800" y="400507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small-to-mid teams, not enterprise bloat.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086600" y="4700016"/>
            <a:ext cx="201168" cy="20116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640" y="46268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86800" y="46268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open stack — Bun, Elysia, Next.js — no proprietary lock-in.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86600" y="5321808"/>
            <a:ext cx="201168" cy="20116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0" y="524865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686800" y="524865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signals. No PII exfiltration, no scraped emails.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76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 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Shipped. Tested. Live.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pull requests merged. 12 server tests passing. End-to-end flow runs against the live GitHub API.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26609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886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merged to main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2424" y="2743200"/>
            <a:ext cx="26609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28346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3621024" y="3886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server tests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6208" y="2743200"/>
            <a:ext cx="26609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4808" y="28346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25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464808" y="3886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components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79992" y="2743200"/>
            <a:ext cx="26609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08592" y="2834640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EA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308592" y="38862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type-check clean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WORKS END-TO-END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with language / location / follower filters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90488" y="5120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64808" y="51206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profiles with score breakdown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4498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54498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CRUD with live add/remove via dropdown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90488" y="54498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64808" y="54498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with proper escaping + timestamped filename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7790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2960" y="577900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docs, health checks, rate-limit badge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90488" y="57790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64808" y="577900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OR token-authenticated GitHub access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GITSCOUT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4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1792"/>
            <a:ext cx="228600" cy="731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MVP unlocks.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foundation to layer recruiter-facing intelligence on top.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1672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1635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outreach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8529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contribution-specific messages with 5× higher response rates.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11091672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45643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80160" y="349300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Role-fit matching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4930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ranking against a job description, not a free-text query.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0965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80160" y="413308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+ email enrichment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413308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GitHub signal with adjacent professional context.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11091672" cy="5486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7365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80160" y="4773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analytics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47731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shortlist funnel metrics, scoring drift, and reviewer agreement.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623560"/>
            <a:ext cx="11091672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8064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Thanks.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126480" y="5897880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github.com/xors-software/git-scout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GitScout</dc:title>
  <dc:subject>PptxGenJS Presentation</dc:subject>
  <dc:creator>GitScout Team</dc:creator>
  <cp:lastModifiedBy>GitScout Team</cp:lastModifiedBy>
  <cp:revision>1</cp:revision>
  <dcterms:created xsi:type="dcterms:W3CDTF">2026-04-24T01:14:50Z</dcterms:created>
  <dcterms:modified xsi:type="dcterms:W3CDTF">2026-04-24T01:14:50Z</dcterms:modified>
</cp:coreProperties>
</file>